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68" r:id="rId13"/>
  </p:sldIdLst>
  <p:sldSz cx="12192000" cy="68580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0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82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104882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>
            <a:endParaRPr lang="cs-CZ"/>
          </a:p>
        </p:txBody>
      </p:sp>
      <p:sp>
        <p:nvSpPr>
          <p:cNvPr id="104882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104882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82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04858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04858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/>
        </p:txBody>
      </p:sp>
      <p:sp>
        <p:nvSpPr>
          <p:cNvPr id="104858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04858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04858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04859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04859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/>
        </p:txBody>
      </p:sp>
      <p:sp>
        <p:nvSpPr>
          <p:cNvPr id="104860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04860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04860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04861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04861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/>
        </p:txBody>
      </p:sp>
      <p:sp>
        <p:nvSpPr>
          <p:cNvPr id="104861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04861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04862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04863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04863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/>
        </p:txBody>
      </p:sp>
      <p:sp>
        <p:nvSpPr>
          <p:cNvPr id="104863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04863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04863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04865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04865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/>
        </p:txBody>
      </p:sp>
      <p:sp>
        <p:nvSpPr>
          <p:cNvPr id="104865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04865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04865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04866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04866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/>
        </p:txBody>
      </p:sp>
      <p:sp>
        <p:nvSpPr>
          <p:cNvPr id="104866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04867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04867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04869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04869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/>
        </p:txBody>
      </p:sp>
      <p:sp>
        <p:nvSpPr>
          <p:cNvPr id="104869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04869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04869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04871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04871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/>
        </p:txBody>
      </p:sp>
      <p:sp>
        <p:nvSpPr>
          <p:cNvPr id="104871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我们的核心创新有三点：一是构建赛事专属垂直知识库，知识可追溯；二是用RAG知识约束从源头抑制幻觉，模型只润色不编造；三是一赛多风格，同时服务线下赛事和短视频自媒体两个场景。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04871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04871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04875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04875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/>
        </p:txBody>
      </p:sp>
      <p:sp>
        <p:nvSpPr>
          <p:cNvPr id="104875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以上就是我们的立项汇报。我们希望用技术让每一场热血对局都有专业解说，既服务线下赛事，也赋能短视频自媒体。谢谢各位老师，恳请批评指正。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04875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04875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62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762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048763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764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765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65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5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776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777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778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779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68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1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792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8793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794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795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6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6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797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798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799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800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801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70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2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803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1048804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805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1048806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807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808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809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63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76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76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76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7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0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811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812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72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3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814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48815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48816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817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818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6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0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781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48782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48783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784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785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7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6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787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788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789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790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6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771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772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773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048774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0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04875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4875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4875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4876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3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C">
            <a:alpha val="100000"/>
          </a:srgbClr>
        </a:solidFill>
        <a:effectLst/>
      </p:bgPr>
    </p:bg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48576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2151C">
                  <a:alpha val="55000"/>
                </a:srgbClr>
              </a:gs>
              <a:gs pos="42000">
                <a:srgbClr val="12151C">
                  <a:alpha val="15000"/>
                </a:srgbClr>
              </a:gs>
              <a:gs pos="100000">
                <a:srgbClr val="12151C">
                  <a:alpha val="92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577" name="AutoShape 4"/>
          <p:cNvSpPr/>
          <p:nvPr/>
        </p:nvSpPr>
        <p:spPr>
          <a:xfrm>
            <a:off x="1016000" y="9144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zh-CN" altLang="en-US">
                <a:solidFill>
                  <a:srgbClr val="E0A44A"/>
                </a:solidFill>
                <a:latin typeface="Noto Sans SC"/>
                <a:ea typeface="Noto Sans SC"/>
                <a:cs typeface="Noto Sans SC"/>
                <a:sym typeface="Noto Sans SC"/>
              </a:rPr>
              <a:t>院级挑战课</a:t>
            </a:r>
            <a:r>
              <a:rPr lang="en-US" sz="1400" b="0" i="0" u="none" strike="noStrike">
                <a:solidFill>
                  <a:srgbClr val="E0A44A"/>
                </a:solidFill>
                <a:latin typeface="Noto Sans SC"/>
                <a:ea typeface="Noto Sans SC"/>
                <a:cs typeface="Noto Sans SC"/>
                <a:sym typeface="Noto Sans SC"/>
              </a:rPr>
              <a:t> · 项目立项汇报</a:t>
            </a:r>
            <a:endParaRPr lang="en-US" sz="1100"/>
          </a:p>
        </p:txBody>
      </p:sp>
      <p:cxnSp>
        <p:nvCxnSpPr>
          <p:cNvPr id="3145728" name="Connector 5"/>
          <p:cNvCxnSpPr/>
          <p:nvPr/>
        </p:nvCxnSpPr>
        <p:spPr>
          <a:xfrm rot="-57290">
            <a:off x="1016053" y="46672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E0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48578" name="AutoShape 6"/>
          <p:cNvSpPr/>
          <p:nvPr/>
        </p:nvSpPr>
        <p:spPr>
          <a:xfrm>
            <a:off x="1016000" y="48768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4800" b="1" i="0" u="none" strike="noStrike">
                <a:solidFill>
                  <a:srgbClr val="F2EDE3"/>
                </a:solidFill>
                <a:latin typeface="Noto Serif SC"/>
                <a:ea typeface="Noto Serif SC"/>
                <a:cs typeface="Noto Serif SC"/>
                <a:sym typeface="Noto Serif SC"/>
              </a:rPr>
              <a:t>电竞AI智能解说辅助系统</a:t>
            </a:r>
            <a:endParaRPr lang="en-US" sz="1100"/>
          </a:p>
        </p:txBody>
      </p:sp>
      <p:sp>
        <p:nvSpPr>
          <p:cNvPr id="1048579" name="AutoShape 7"/>
          <p:cNvSpPr/>
          <p:nvPr/>
        </p:nvSpPr>
        <p:spPr>
          <a:xfrm>
            <a:off x="1016000" y="5867400"/>
            <a:ext cx="1016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C8CDD7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基于多模态大模型与垂直知识约束的赛事解说生成方案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C">
            <a:alpha val="100000"/>
          </a:srgbClr>
        </a:solidFill>
        <a:effectLst/>
      </p:bgPr>
    </p:bg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AutoShape 2"/>
          <p:cNvSpPr/>
          <p:nvPr/>
        </p:nvSpPr>
        <p:spPr>
          <a:xfrm>
            <a:off x="1016000" y="6096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0A44A"/>
                </a:solidFill>
                <a:latin typeface="Noto Sans SC"/>
                <a:ea typeface="Noto Sans SC"/>
                <a:cs typeface="Noto Sans SC"/>
                <a:sym typeface="Noto Sans SC"/>
              </a:rPr>
              <a:t>01 · 价值立意与立德树人</a:t>
            </a:r>
            <a:endParaRPr lang="en-US" sz="1100"/>
          </a:p>
        </p:txBody>
      </p:sp>
      <p:sp>
        <p:nvSpPr>
          <p:cNvPr id="1048587" name="AutoShape 3"/>
          <p:cNvSpPr/>
          <p:nvPr/>
        </p:nvSpPr>
        <p:spPr>
          <a:xfrm>
            <a:off x="1016000" y="10414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F2EDE3"/>
                </a:solidFill>
                <a:latin typeface="Noto Serif SC"/>
                <a:ea typeface="Noto Serif SC"/>
                <a:cs typeface="Noto Serif SC"/>
                <a:sym typeface="Noto Serif SC"/>
              </a:rPr>
              <a:t>技术向善：让AI服务电竞文化的正向传播</a:t>
            </a:r>
            <a:endParaRPr lang="en-US" sz="1100"/>
          </a:p>
        </p:txBody>
      </p:sp>
      <p:cxnSp>
        <p:nvCxnSpPr>
          <p:cNvPr id="3145729" name="Connector 4"/>
          <p:cNvCxnSpPr/>
          <p:nvPr/>
        </p:nvCxnSpPr>
        <p:spPr>
          <a:xfrm rot="-57290">
            <a:off x="1016053" y="18478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E0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48588" name="AutoShape 5"/>
          <p:cNvSpPr/>
          <p:nvPr/>
        </p:nvSpPr>
        <p:spPr>
          <a:xfrm>
            <a:off x="1016000" y="23368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E0A44A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1048589" name="AutoShape 6"/>
          <p:cNvSpPr/>
          <p:nvPr/>
        </p:nvSpPr>
        <p:spPr>
          <a:xfrm>
            <a:off x="1905000" y="2311400"/>
            <a:ext cx="927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900" b="1" i="0" u="none" strike="noStrike">
                <a:solidFill>
                  <a:srgbClr val="F2EDE3"/>
                </a:solidFill>
                <a:latin typeface="Noto Sans SC"/>
                <a:ea typeface="Noto Sans SC"/>
                <a:cs typeface="Noto Sans SC"/>
                <a:sym typeface="Noto Sans SC"/>
              </a:rPr>
              <a:t>立德树人，厚植体育精神</a:t>
            </a:r>
            <a:endParaRPr lang="en-US" sz="1100"/>
          </a:p>
        </p:txBody>
      </p:sp>
      <p:sp>
        <p:nvSpPr>
          <p:cNvPr id="1048590" name="AutoShape 7"/>
          <p:cNvSpPr/>
          <p:nvPr/>
        </p:nvSpPr>
        <p:spPr>
          <a:xfrm>
            <a:off x="1905000" y="2743200"/>
            <a:ext cx="9271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A0A8B6"/>
                </a:solidFill>
                <a:latin typeface="Noto Sans SC"/>
                <a:ea typeface="Noto Sans SC"/>
                <a:cs typeface="Noto Sans SC"/>
                <a:sym typeface="Noto Sans SC"/>
              </a:rPr>
              <a:t>传播正能量电竞文化，讲好选手拼搏、团队协作的故事，引导青年理性看待电竞，与"品质人生"主题高度契合。</a:t>
            </a:r>
            <a:endParaRPr lang="en-US" sz="1100"/>
          </a:p>
        </p:txBody>
      </p:sp>
      <p:sp>
        <p:nvSpPr>
          <p:cNvPr id="1048591" name="AutoShape 8"/>
          <p:cNvSpPr/>
          <p:nvPr/>
        </p:nvSpPr>
        <p:spPr>
          <a:xfrm>
            <a:off x="1016000" y="36322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E0A44A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48592" name="AutoShape 9"/>
          <p:cNvSpPr/>
          <p:nvPr/>
        </p:nvSpPr>
        <p:spPr>
          <a:xfrm>
            <a:off x="1905000" y="3606800"/>
            <a:ext cx="927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900" b="1" i="0" u="none" strike="noStrike">
                <a:solidFill>
                  <a:srgbClr val="F2EDE3"/>
                </a:solidFill>
                <a:latin typeface="Noto Sans SC"/>
                <a:ea typeface="Noto Sans SC"/>
                <a:cs typeface="Noto Sans SC"/>
                <a:sym typeface="Noto Sans SC"/>
              </a:rPr>
              <a:t>恪守AI伦理，守住内容底线</a:t>
            </a:r>
            <a:endParaRPr lang="en-US" sz="1100"/>
          </a:p>
        </p:txBody>
      </p:sp>
      <p:sp>
        <p:nvSpPr>
          <p:cNvPr id="1048593" name="AutoShape 10"/>
          <p:cNvSpPr/>
          <p:nvPr/>
        </p:nvSpPr>
        <p:spPr>
          <a:xfrm>
            <a:off x="1905000" y="4038600"/>
            <a:ext cx="9271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A0A8B6"/>
                </a:solidFill>
                <a:latin typeface="Noto Sans SC"/>
                <a:ea typeface="Noto Sans SC"/>
                <a:cs typeface="Noto Sans SC"/>
                <a:sym typeface="Noto Sans SC"/>
              </a:rPr>
              <a:t>以知识库约束生成逻辑，杜绝事实幻觉、低俗与引战内容，让AI"有所知、有所不为"。</a:t>
            </a:r>
            <a:endParaRPr lang="en-US" sz="1100"/>
          </a:p>
        </p:txBody>
      </p:sp>
      <p:sp>
        <p:nvSpPr>
          <p:cNvPr id="1048594" name="AutoShape 11"/>
          <p:cNvSpPr/>
          <p:nvPr/>
        </p:nvSpPr>
        <p:spPr>
          <a:xfrm>
            <a:off x="1016000" y="49276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E0A44A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048595" name="AutoShape 12"/>
          <p:cNvSpPr/>
          <p:nvPr/>
        </p:nvSpPr>
        <p:spPr>
          <a:xfrm>
            <a:off x="1905000" y="4902200"/>
            <a:ext cx="927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900" b="1" i="0" u="none" strike="noStrike">
                <a:solidFill>
                  <a:srgbClr val="F2EDE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数据安全，合规最小化采集</a:t>
            </a:r>
            <a:endParaRPr lang="en-US" sz="1100"/>
          </a:p>
        </p:txBody>
      </p:sp>
      <p:sp>
        <p:nvSpPr>
          <p:cNvPr id="1048596" name="AutoShape 13"/>
          <p:cNvSpPr/>
          <p:nvPr/>
        </p:nvSpPr>
        <p:spPr>
          <a:xfrm>
            <a:off x="1905000" y="5334000"/>
            <a:ext cx="9271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A0A8B6"/>
                </a:solidFill>
                <a:latin typeface="Noto Sans SC"/>
                <a:ea typeface="Noto Sans SC"/>
                <a:cs typeface="Noto Sans SC"/>
                <a:sym typeface="Noto Sans SC"/>
              </a:rPr>
              <a:t>赛事与选手数据仅用于学术原型，采用公开数据源、脱敏处理、本地部署，不侵犯版权与隐私。</a:t>
            </a:r>
            <a:endParaRPr lang="en-US" sz="1100"/>
          </a:p>
        </p:txBody>
      </p:sp>
      <p:sp>
        <p:nvSpPr>
          <p:cNvPr id="1" name="文本框 0"/>
          <p:cNvSpPr txBox="1"/>
          <p:nvPr userDrawn="1"/>
        </p:nvSpPr>
        <p:spPr>
          <a:xfrm>
            <a:off x="4612640" y="2078355"/>
            <a:ext cx="309880" cy="306705"/>
          </a:xfrm>
          <a:prstGeom prst="rect">
            <a:avLst/>
          </a:prstGeom>
        </p:spPr>
        <p:txBody>
          <a:bodyPr wrap="non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C">
            <a:alpha val="100000"/>
          </a:srgbClr>
        </a:solidFill>
        <a:effectLst/>
      </p:bgPr>
    </p:bg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AutoShape 2"/>
          <p:cNvSpPr/>
          <p:nvPr/>
        </p:nvSpPr>
        <p:spPr>
          <a:xfrm>
            <a:off x="1016000" y="6096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0A44A"/>
                </a:solidFill>
                <a:latin typeface="Noto Sans SC"/>
                <a:ea typeface="Noto Sans SC"/>
                <a:cs typeface="Noto Sans SC"/>
                <a:sym typeface="Noto Sans SC"/>
              </a:rPr>
              <a:t>02 · 四维调研 · 政策背景（近三年）</a:t>
            </a:r>
            <a:endParaRPr lang="en-US" sz="1100"/>
          </a:p>
        </p:txBody>
      </p:sp>
      <p:sp>
        <p:nvSpPr>
          <p:cNvPr id="1048604" name="AutoShape 3"/>
          <p:cNvSpPr/>
          <p:nvPr/>
        </p:nvSpPr>
        <p:spPr>
          <a:xfrm>
            <a:off x="1016000" y="1041400"/>
            <a:ext cx="10414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3000" b="1" i="0" u="none" strike="noStrike">
                <a:solidFill>
                  <a:srgbClr val="F2EDE3"/>
                </a:solidFill>
                <a:latin typeface="Noto Serif SC"/>
                <a:ea typeface="Noto Serif SC"/>
                <a:cs typeface="Noto Serif SC"/>
                <a:sym typeface="Noto Serif SC"/>
              </a:rPr>
              <a:t>政策持续加码：电竞从"边缘娱乐"走向"主流体育"</a:t>
            </a:r>
            <a:endParaRPr lang="en-US" sz="1100"/>
          </a:p>
        </p:txBody>
      </p:sp>
      <p:cxnSp>
        <p:nvCxnSpPr>
          <p:cNvPr id="3145730" name="Connector 4"/>
          <p:cNvCxnSpPr/>
          <p:nvPr/>
        </p:nvCxnSpPr>
        <p:spPr>
          <a:xfrm rot="-57290">
            <a:off x="1016053" y="18478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E0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145731" name="Connector 5"/>
          <p:cNvCxnSpPr/>
          <p:nvPr/>
        </p:nvCxnSpPr>
        <p:spPr>
          <a:xfrm rot="-5055">
            <a:off x="1778005" y="3803650"/>
            <a:ext cx="863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0A44A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48605" name="AutoShape 6"/>
          <p:cNvSpPr/>
          <p:nvPr/>
        </p:nvSpPr>
        <p:spPr>
          <a:xfrm>
            <a:off x="2463800" y="3733800"/>
            <a:ext cx="152400" cy="152400"/>
          </a:xfrm>
          <a:prstGeom prst="ellipse">
            <a:avLst/>
          </a:prstGeom>
          <a:solidFill>
            <a:srgbClr val="E0A4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606" name="AutoShape 7"/>
          <p:cNvSpPr/>
          <p:nvPr/>
        </p:nvSpPr>
        <p:spPr>
          <a:xfrm>
            <a:off x="6019800" y="3733800"/>
            <a:ext cx="152400" cy="152400"/>
          </a:xfrm>
          <a:prstGeom prst="ellipse">
            <a:avLst/>
          </a:prstGeom>
          <a:solidFill>
            <a:srgbClr val="E0A4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607" name="AutoShape 8"/>
          <p:cNvSpPr/>
          <p:nvPr/>
        </p:nvSpPr>
        <p:spPr>
          <a:xfrm>
            <a:off x="9575800" y="3733800"/>
            <a:ext cx="152400" cy="152400"/>
          </a:xfrm>
          <a:prstGeom prst="ellipse">
            <a:avLst/>
          </a:prstGeom>
          <a:solidFill>
            <a:srgbClr val="E0A4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608" name="AutoShape 9"/>
          <p:cNvSpPr/>
          <p:nvPr/>
        </p:nvSpPr>
        <p:spPr>
          <a:xfrm>
            <a:off x="1143000" y="2540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</a:pPr>
            <a:r>
              <a:rPr lang="en-US" sz="3000" b="1" i="0" u="none" strike="noStrike">
                <a:solidFill>
                  <a:srgbClr val="E0A44A"/>
                </a:solidFill>
                <a:latin typeface="Noto Sans SC"/>
                <a:ea typeface="Noto Sans SC"/>
                <a:cs typeface="Noto Sans SC"/>
                <a:sym typeface="Noto Sans SC"/>
              </a:rPr>
              <a:t>2023</a:t>
            </a:r>
            <a:endParaRPr lang="en-US" sz="1100"/>
          </a:p>
        </p:txBody>
      </p:sp>
      <p:sp>
        <p:nvSpPr>
          <p:cNvPr id="1048609" name="AutoShape 10"/>
          <p:cNvSpPr/>
          <p:nvPr/>
        </p:nvSpPr>
        <p:spPr>
          <a:xfrm>
            <a:off x="1143000" y="4064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C8CDD7"/>
                </a:solidFill>
                <a:latin typeface="Noto Sans SC"/>
                <a:ea typeface="Noto Sans SC"/>
                <a:cs typeface="Noto Sans SC"/>
                <a:sym typeface="Noto Sans SC"/>
              </a:rPr>
              <a:t>杭州亚运会电竞首次成为正式竞赛项目，计入国家奖牌榜</a:t>
            </a:r>
            <a:endParaRPr lang="en-US" sz="1100"/>
          </a:p>
        </p:txBody>
      </p:sp>
      <p:sp>
        <p:nvSpPr>
          <p:cNvPr id="1048610" name="AutoShape 11"/>
          <p:cNvSpPr/>
          <p:nvPr/>
        </p:nvSpPr>
        <p:spPr>
          <a:xfrm>
            <a:off x="4699000" y="2540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</a:pPr>
            <a:r>
              <a:rPr lang="en-US" sz="3000" b="1" i="0" u="none" strike="noStrike">
                <a:solidFill>
                  <a:srgbClr val="E0A44A"/>
                </a:solidFill>
                <a:latin typeface="Noto Sans SC"/>
                <a:ea typeface="Noto Sans SC"/>
                <a:cs typeface="Noto Sans SC"/>
                <a:sym typeface="Noto Sans SC"/>
              </a:rPr>
              <a:t>2024</a:t>
            </a:r>
            <a:endParaRPr lang="en-US" sz="1100"/>
          </a:p>
        </p:txBody>
      </p:sp>
      <p:sp>
        <p:nvSpPr>
          <p:cNvPr id="1048611" name="AutoShape 12"/>
          <p:cNvSpPr/>
          <p:nvPr/>
        </p:nvSpPr>
        <p:spPr>
          <a:xfrm>
            <a:off x="4699000" y="4064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C8CDD7"/>
                </a:solidFill>
                <a:latin typeface="Noto Sans SC"/>
                <a:ea typeface="Noto Sans SC"/>
                <a:cs typeface="Noto Sans SC"/>
                <a:sym typeface="Noto Sans SC"/>
              </a:rPr>
              <a:t>国务院《促进服务消费高质量发展意见》明确支持电竞；国际奥委会通过"电竞入奥"提案</a:t>
            </a:r>
            <a:endParaRPr lang="en-US" sz="1100"/>
          </a:p>
        </p:txBody>
      </p:sp>
      <p:sp>
        <p:nvSpPr>
          <p:cNvPr id="1048612" name="AutoShape 13"/>
          <p:cNvSpPr/>
          <p:nvPr/>
        </p:nvSpPr>
        <p:spPr>
          <a:xfrm>
            <a:off x="8255000" y="2540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</a:pPr>
            <a:r>
              <a:rPr lang="en-US" sz="3000" b="1" i="0" u="none" strike="noStrike">
                <a:solidFill>
                  <a:srgbClr val="E0A44A"/>
                </a:solidFill>
                <a:latin typeface="Noto Sans SC"/>
                <a:ea typeface="Noto Sans SC"/>
                <a:cs typeface="Noto Sans SC"/>
                <a:sym typeface="Noto Sans SC"/>
              </a:rPr>
              <a:t>2025</a:t>
            </a:r>
            <a:endParaRPr lang="en-US" sz="1100"/>
          </a:p>
        </p:txBody>
      </p:sp>
      <p:sp>
        <p:nvSpPr>
          <p:cNvPr id="1048613" name="AutoShape 14"/>
          <p:cNvSpPr/>
          <p:nvPr/>
        </p:nvSpPr>
        <p:spPr>
          <a:xfrm>
            <a:off x="8255000" y="4064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C8CDD7"/>
                </a:solidFill>
                <a:latin typeface="Noto Sans SC"/>
                <a:ea typeface="Noto Sans SC"/>
                <a:cs typeface="Noto Sans SC"/>
                <a:sym typeface="Noto Sans SC"/>
              </a:rPr>
              <a:t>教育部本科增设"游戏艺术设计"专业；全国139所高校开设电竞专业，年培养超4万人</a:t>
            </a:r>
            <a:endParaRPr lang="en-US" sz="1100"/>
          </a:p>
        </p:txBody>
      </p:sp>
      <p:sp>
        <p:nvSpPr>
          <p:cNvPr id="1048614" name="AutoShape 15"/>
          <p:cNvSpPr/>
          <p:nvPr/>
        </p:nvSpPr>
        <p:spPr>
          <a:xfrm>
            <a:off x="1016000" y="6350000"/>
            <a:ext cx="1041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8808E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来源：国务院、教育部公开文件，新华社、人民日报、央视网公开报道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C">
            <a:alpha val="100000"/>
          </a:srgbClr>
        </a:solidFill>
        <a:effectLst/>
      </p:bgPr>
    </p:bg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AutoShape 2"/>
          <p:cNvSpPr/>
          <p:nvPr/>
        </p:nvSpPr>
        <p:spPr>
          <a:xfrm>
            <a:off x="1016000" y="6096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0A44A"/>
                </a:solidFill>
                <a:latin typeface="Noto Sans SC"/>
                <a:ea typeface="Noto Sans SC"/>
                <a:cs typeface="Noto Sans SC"/>
                <a:sym typeface="Noto Sans SC"/>
              </a:rPr>
              <a:t>02 · 四维调研 · 行业背景</a:t>
            </a:r>
            <a:endParaRPr lang="en-US" sz="1100"/>
          </a:p>
        </p:txBody>
      </p:sp>
      <p:sp>
        <p:nvSpPr>
          <p:cNvPr id="1048622" name="AutoShape 3"/>
          <p:cNvSpPr/>
          <p:nvPr/>
        </p:nvSpPr>
        <p:spPr>
          <a:xfrm>
            <a:off x="1016000" y="1041400"/>
            <a:ext cx="10414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3000" b="1" i="0" u="none" strike="noStrike">
                <a:solidFill>
                  <a:srgbClr val="F2EDE3"/>
                </a:solidFill>
                <a:latin typeface="Noto Serif SC"/>
                <a:ea typeface="Noto Serif SC"/>
                <a:cs typeface="Noto Serif SC"/>
                <a:sym typeface="Noto Serif SC"/>
              </a:rPr>
              <a:t>近5亿用户、近300亿收入的成熟内容市场</a:t>
            </a:r>
            <a:endParaRPr lang="en-US" sz="1100"/>
          </a:p>
        </p:txBody>
      </p:sp>
      <p:cxnSp>
        <p:nvCxnSpPr>
          <p:cNvPr id="3145732" name="Connector 4"/>
          <p:cNvCxnSpPr/>
          <p:nvPr/>
        </p:nvCxnSpPr>
        <p:spPr>
          <a:xfrm rot="-57290">
            <a:off x="1016053" y="18478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E0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145733" name="Connector 5"/>
          <p:cNvCxnSpPr/>
          <p:nvPr/>
        </p:nvCxnSpPr>
        <p:spPr>
          <a:xfrm rot="5377082">
            <a:off x="2476500" y="3613171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4" name="Connector 6"/>
          <p:cNvCxnSpPr/>
          <p:nvPr/>
        </p:nvCxnSpPr>
        <p:spPr>
          <a:xfrm rot="5377082">
            <a:off x="5143500" y="3613171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5" name="Connector 7"/>
          <p:cNvCxnSpPr/>
          <p:nvPr/>
        </p:nvCxnSpPr>
        <p:spPr>
          <a:xfrm rot="5377082">
            <a:off x="7810500" y="3613171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623" name="AutoShape 8"/>
          <p:cNvSpPr/>
          <p:nvPr/>
        </p:nvSpPr>
        <p:spPr>
          <a:xfrm>
            <a:off x="1016000" y="2730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</a:pPr>
            <a:r>
              <a:rPr lang="en-US" sz="4600" b="1" i="0" u="none" strike="noStrike">
                <a:solidFill>
                  <a:srgbClr val="E0A44A"/>
                </a:solidFill>
                <a:latin typeface="Noto Sans SC"/>
                <a:ea typeface="Noto Sans SC"/>
                <a:cs typeface="Noto Sans SC"/>
                <a:sym typeface="Noto Sans SC"/>
              </a:rPr>
              <a:t>4.95亿</a:t>
            </a:r>
            <a:endParaRPr lang="en-US" sz="1100"/>
          </a:p>
        </p:txBody>
      </p:sp>
      <p:sp>
        <p:nvSpPr>
          <p:cNvPr id="1048624" name="AutoShape 9"/>
          <p:cNvSpPr/>
          <p:nvPr/>
        </p:nvSpPr>
        <p:spPr>
          <a:xfrm>
            <a:off x="1016000" y="3810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C8CDD7"/>
                </a:solidFill>
                <a:latin typeface="Noto Sans SC"/>
                <a:ea typeface="Noto Sans SC"/>
                <a:cs typeface="Noto Sans SC"/>
                <a:sym typeface="Noto Sans SC"/>
              </a:rPr>
              <a:t>2025年电竞用户规模，占全国人口超35%</a:t>
            </a:r>
            <a:endParaRPr lang="en-US" sz="1100"/>
          </a:p>
        </p:txBody>
      </p:sp>
      <p:sp>
        <p:nvSpPr>
          <p:cNvPr id="1048625" name="AutoShape 10"/>
          <p:cNvSpPr/>
          <p:nvPr/>
        </p:nvSpPr>
        <p:spPr>
          <a:xfrm>
            <a:off x="3683000" y="2730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</a:pPr>
            <a:r>
              <a:rPr lang="en-US" sz="4600" b="1" i="0" u="none" strike="noStrike">
                <a:solidFill>
                  <a:srgbClr val="E0A44A"/>
                </a:solidFill>
                <a:latin typeface="Noto Sans SC"/>
                <a:ea typeface="Noto Sans SC"/>
                <a:cs typeface="Noto Sans SC"/>
                <a:sym typeface="Noto Sans SC"/>
              </a:rPr>
              <a:t>293亿</a:t>
            </a:r>
            <a:endParaRPr lang="en-US" sz="1100"/>
          </a:p>
        </p:txBody>
      </p:sp>
      <p:sp>
        <p:nvSpPr>
          <p:cNvPr id="1048626" name="AutoShape 11"/>
          <p:cNvSpPr/>
          <p:nvPr/>
        </p:nvSpPr>
        <p:spPr>
          <a:xfrm>
            <a:off x="3683000" y="3810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C8CDD7"/>
                </a:solidFill>
                <a:latin typeface="Noto Sans SC"/>
                <a:ea typeface="Noto Sans SC"/>
                <a:cs typeface="Noto Sans SC"/>
                <a:sym typeface="Noto Sans SC"/>
              </a:rPr>
              <a:t>2025年产业实际销售收入，同比增长6.4%</a:t>
            </a:r>
            <a:endParaRPr lang="en-US" sz="1100"/>
          </a:p>
        </p:txBody>
      </p:sp>
      <p:sp>
        <p:nvSpPr>
          <p:cNvPr id="1048627" name="AutoShape 12"/>
          <p:cNvSpPr/>
          <p:nvPr/>
        </p:nvSpPr>
        <p:spPr>
          <a:xfrm>
            <a:off x="6350000" y="2730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</a:pPr>
            <a:r>
              <a:rPr lang="en-US" sz="4600" b="1" i="0" u="none" strike="noStrike">
                <a:solidFill>
                  <a:srgbClr val="E0A44A"/>
                </a:solidFill>
                <a:latin typeface="Noto Sans SC"/>
                <a:ea typeface="Noto Sans SC"/>
                <a:cs typeface="Noto Sans SC"/>
                <a:sym typeface="Noto Sans SC"/>
              </a:rPr>
              <a:t>80.8%</a:t>
            </a:r>
            <a:endParaRPr lang="en-US" sz="1100"/>
          </a:p>
        </p:txBody>
      </p:sp>
      <p:sp>
        <p:nvSpPr>
          <p:cNvPr id="1048628" name="AutoShape 13"/>
          <p:cNvSpPr/>
          <p:nvPr/>
        </p:nvSpPr>
        <p:spPr>
          <a:xfrm>
            <a:off x="6350000" y="3810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C8CDD7"/>
                </a:solidFill>
                <a:latin typeface="Noto Sans SC"/>
                <a:ea typeface="Noto Sans SC"/>
                <a:cs typeface="Noto Sans SC"/>
                <a:sym typeface="Noto Sans SC"/>
              </a:rPr>
              <a:t>直播收入占比，解说内容是产业核心资产</a:t>
            </a:r>
            <a:endParaRPr lang="en-US" sz="1100"/>
          </a:p>
        </p:txBody>
      </p:sp>
      <p:sp>
        <p:nvSpPr>
          <p:cNvPr id="1048629" name="AutoShape 14"/>
          <p:cNvSpPr/>
          <p:nvPr/>
        </p:nvSpPr>
        <p:spPr>
          <a:xfrm>
            <a:off x="9017000" y="2730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</a:pPr>
            <a:r>
              <a:rPr lang="en-US" sz="4600" b="1" i="0" u="none" strike="noStrike">
                <a:solidFill>
                  <a:srgbClr val="E0A44A"/>
                </a:solidFill>
                <a:latin typeface="Noto Sans SC"/>
                <a:ea typeface="Noto Sans SC"/>
                <a:cs typeface="Noto Sans SC"/>
                <a:sym typeface="Noto Sans SC"/>
              </a:rPr>
              <a:t>400万+</a:t>
            </a:r>
            <a:endParaRPr lang="en-US" sz="1100"/>
          </a:p>
        </p:txBody>
      </p:sp>
      <p:sp>
        <p:nvSpPr>
          <p:cNvPr id="1048630" name="AutoShape 15"/>
          <p:cNvSpPr/>
          <p:nvPr/>
        </p:nvSpPr>
        <p:spPr>
          <a:xfrm>
            <a:off x="9017000" y="3810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C8CDD7"/>
                </a:solidFill>
                <a:latin typeface="Noto Sans SC"/>
                <a:ea typeface="Noto Sans SC"/>
                <a:cs typeface="Noto Sans SC"/>
                <a:sym typeface="Noto Sans SC"/>
              </a:rPr>
              <a:t>头部赛事单场观赛人数峰值，内容需求旺盛</a:t>
            </a:r>
            <a:endParaRPr lang="en-US" sz="1100"/>
          </a:p>
        </p:txBody>
      </p:sp>
      <p:sp>
        <p:nvSpPr>
          <p:cNvPr id="1048631" name="AutoShape 16"/>
          <p:cNvSpPr/>
          <p:nvPr/>
        </p:nvSpPr>
        <p:spPr>
          <a:xfrm>
            <a:off x="1016000" y="5461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A0A8B6"/>
                </a:solidFill>
                <a:latin typeface="Noto Sans SC"/>
                <a:ea typeface="Noto Sans SC"/>
                <a:cs typeface="Noto Sans SC"/>
                <a:sym typeface="Noto Sans SC"/>
              </a:rPr>
              <a:t>市场已从"拉新"转向"提效"：收入增速（6.4%）远超用户增速（1.06%），专业内容生产效率成为竞争关键——这正是本系统的切入空间。</a:t>
            </a:r>
            <a:endParaRPr lang="en-US" sz="1100"/>
          </a:p>
        </p:txBody>
      </p:sp>
      <p:sp>
        <p:nvSpPr>
          <p:cNvPr id="1048632" name="AutoShape 17"/>
          <p:cNvSpPr/>
          <p:nvPr/>
        </p:nvSpPr>
        <p:spPr>
          <a:xfrm>
            <a:off x="1016000" y="64135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8808E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来源：中国音像与数字出版协会电竞工委《2025中国电子竞技产业报告》（新华网，2025.12）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C">
            <a:alpha val="100000"/>
          </a:srgbClr>
        </a:solidFill>
        <a:effectLst/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AutoShape 2"/>
          <p:cNvSpPr/>
          <p:nvPr/>
        </p:nvSpPr>
        <p:spPr>
          <a:xfrm>
            <a:off x="1016000" y="6096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0A44A"/>
                </a:solidFill>
                <a:latin typeface="Noto Sans SC"/>
                <a:ea typeface="Noto Sans SC"/>
                <a:cs typeface="Noto Sans SC"/>
                <a:sym typeface="Noto Sans SC"/>
              </a:rPr>
              <a:t>02 · 四维调研 · 行业痛点</a:t>
            </a:r>
            <a:endParaRPr lang="en-US" sz="1100"/>
          </a:p>
        </p:txBody>
      </p:sp>
      <p:sp>
        <p:nvSpPr>
          <p:cNvPr id="1048640" name="AutoShape 3"/>
          <p:cNvSpPr/>
          <p:nvPr/>
        </p:nvSpPr>
        <p:spPr>
          <a:xfrm>
            <a:off x="1016000" y="1041400"/>
            <a:ext cx="10414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3000" b="1" i="0" u="none" strike="noStrike">
                <a:solidFill>
                  <a:srgbClr val="F2EDE3"/>
                </a:solidFill>
                <a:latin typeface="Noto Serif SC"/>
                <a:ea typeface="Noto Serif SC"/>
                <a:cs typeface="Noto Serif SC"/>
                <a:sym typeface="Noto Serif SC"/>
              </a:rPr>
              <a:t>解说产能与专业度之间的三重缺口</a:t>
            </a:r>
            <a:endParaRPr lang="en-US" sz="1100"/>
          </a:p>
        </p:txBody>
      </p:sp>
      <p:cxnSp>
        <p:nvCxnSpPr>
          <p:cNvPr id="3145736" name="Connector 4"/>
          <p:cNvCxnSpPr/>
          <p:nvPr/>
        </p:nvCxnSpPr>
        <p:spPr>
          <a:xfrm rot="-57290">
            <a:off x="1016053" y="18478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E0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48641" name="AutoShape 5"/>
          <p:cNvSpPr/>
          <p:nvPr/>
        </p:nvSpPr>
        <p:spPr>
          <a:xfrm>
            <a:off x="1016000" y="2311400"/>
            <a:ext cx="927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zh-CN" altLang="en-US" sz="1900" b="1">
                <a:solidFill>
                  <a:srgbClr val="F2EDE3"/>
                </a:solidFill>
                <a:latin typeface="Noto Sans SC"/>
                <a:ea typeface="Noto Sans SC"/>
                <a:cs typeface="Arial" panose="020B0604020202020204" pitchFamily="34" charset="0"/>
                <a:sym typeface="Noto Sans SC"/>
              </a:rPr>
              <a:t>痛点</a:t>
            </a:r>
            <a:r>
              <a:rPr lang="en-US" sz="1900" b="1" i="0" u="none" strike="noStrike">
                <a:solidFill>
                  <a:srgbClr val="F2EDE3"/>
                </a:solidFill>
                <a:latin typeface="Noto Sans SC"/>
                <a:ea typeface="Noto Sans SC"/>
                <a:cs typeface="Noto Sans SC"/>
                <a:sym typeface="Noto Sans SC"/>
              </a:rPr>
              <a:t>一 · 优质解说稀缺，高度依赖个人经验</a:t>
            </a:r>
            <a:endParaRPr lang="en-US" sz="1100"/>
          </a:p>
        </p:txBody>
      </p:sp>
      <p:sp>
        <p:nvSpPr>
          <p:cNvPr id="1048642" name="AutoShape 6"/>
          <p:cNvSpPr/>
          <p:nvPr/>
        </p:nvSpPr>
        <p:spPr>
          <a:xfrm>
            <a:off x="1016000" y="2743200"/>
            <a:ext cx="927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A0A8B6"/>
                </a:solidFill>
                <a:latin typeface="Noto Sans SC"/>
                <a:ea typeface="Noto Sans SC"/>
                <a:cs typeface="Noto Sans SC"/>
                <a:sym typeface="Noto Sans SC"/>
              </a:rPr>
              <a:t>职业解说培养周期长、人力成本高，中小赛事与校园赛事"请不起、排不开"。</a:t>
            </a:r>
            <a:endParaRPr lang="en-US" sz="1100"/>
          </a:p>
        </p:txBody>
      </p:sp>
      <p:sp>
        <p:nvSpPr>
          <p:cNvPr id="1048643" name="AutoShape 7"/>
          <p:cNvSpPr/>
          <p:nvPr/>
        </p:nvSpPr>
        <p:spPr>
          <a:xfrm>
            <a:off x="1016000" y="3429000"/>
            <a:ext cx="927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zh-CN" altLang="en-US" sz="1900" b="1">
                <a:solidFill>
                  <a:srgbClr val="F2EDE3"/>
                </a:solidFill>
                <a:latin typeface="Noto Sans SC"/>
                <a:ea typeface="Noto Sans SC"/>
                <a:cs typeface="Noto Sans SC"/>
                <a:sym typeface="Noto Sans SC"/>
              </a:rPr>
              <a:t>痛</a:t>
            </a:r>
            <a:r>
              <a:rPr lang="zh-CN" altLang="en-US" sz="1900" b="1" i="0" u="none" strike="noStrike">
                <a:solidFill>
                  <a:srgbClr val="F2EDE3"/>
                </a:solidFill>
                <a:latin typeface="Noto Sans SC"/>
                <a:ea typeface="Noto Sans SC"/>
                <a:cs typeface="Noto Sans SC"/>
                <a:sym typeface="Noto Sans SC"/>
              </a:rPr>
              <a:t>点</a:t>
            </a:r>
            <a:r>
              <a:rPr lang="en-US" sz="1900" b="1" i="0" u="none" strike="noStrike">
                <a:solidFill>
                  <a:srgbClr val="F2EDE3"/>
                </a:solidFill>
                <a:latin typeface="Noto Sans SC"/>
                <a:ea typeface="Noto Sans SC"/>
                <a:cs typeface="Noto Sans SC"/>
                <a:sym typeface="Noto Sans SC"/>
              </a:rPr>
              <a:t>二 · </a:t>
            </a:r>
            <a:r>
              <a:rPr lang="zh-CN" altLang="en-US" sz="1900" b="1" i="0" u="none" strike="noStrike">
                <a:solidFill>
                  <a:srgbClr val="F2EDE3"/>
                </a:solidFill>
                <a:latin typeface="Noto Sans SC"/>
                <a:ea typeface="Noto Sans SC"/>
                <a:cs typeface="Noto Sans SC"/>
                <a:sym typeface="Noto Sans SC"/>
              </a:rPr>
              <a:t>通用 </a:t>
            </a:r>
            <a:r>
              <a:rPr lang="en-US" altLang="zh-CN" sz="1900" b="1" i="0" u="none" strike="noStrike">
                <a:solidFill>
                  <a:srgbClr val="F2EDE3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zh-CN" altLang="en-US" sz="1900" b="1" i="0" u="none" strike="noStrike">
                <a:solidFill>
                  <a:srgbClr val="F2EDE3"/>
                </a:solidFill>
                <a:latin typeface="Noto Sans SC"/>
                <a:ea typeface="Noto Sans SC"/>
                <a:cs typeface="Noto Sans SC"/>
                <a:sym typeface="Noto Sans SC"/>
              </a:rPr>
              <a:t>缺乏垂直适配</a:t>
            </a:r>
            <a:endParaRPr lang="en-US" sz="1900" b="1" i="0" u="none" strike="noStrike">
              <a:solidFill>
                <a:srgbClr val="F2EDE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48644" name="AutoShape 8"/>
          <p:cNvSpPr/>
          <p:nvPr/>
        </p:nvSpPr>
        <p:spPr>
          <a:xfrm>
            <a:off x="1016000" y="3860800"/>
            <a:ext cx="927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A0A8B6"/>
                </a:solidFill>
                <a:latin typeface="Noto Sans SC"/>
                <a:ea typeface="Noto Sans SC"/>
                <a:cs typeface="Noto Sans SC"/>
                <a:sym typeface="Noto Sans SC"/>
              </a:rPr>
              <a:t>通用大模型缺乏电竞</a:t>
            </a:r>
            <a:r>
              <a:rPr lang="en-US" sz="1500">
                <a:solidFill>
                  <a:srgbClr val="A0A8B6"/>
                </a:solidFill>
                <a:latin typeface="Noto Sans SC" charset="0"/>
                <a:ea typeface="Noto Sans SC" charset="0"/>
                <a:cs typeface="Noto Sans SC" charset="0"/>
                <a:sym typeface="Noto Sans SC"/>
              </a:rPr>
              <a:t>专业</a:t>
            </a:r>
            <a:r>
              <a:rPr lang="en-US" sz="1500" b="0" i="0" u="none" strike="noStrike">
                <a:solidFill>
                  <a:srgbClr val="A0A8B6"/>
                </a:solidFill>
                <a:latin typeface="Noto Sans SC"/>
                <a:ea typeface="Noto Sans SC"/>
                <a:cs typeface="Noto Sans SC"/>
                <a:sym typeface="Noto Sans SC"/>
              </a:rPr>
              <a:t>知识，选手、英雄、历史战绩事实幻觉严重，无法直接用于赛事。</a:t>
            </a:r>
            <a:endParaRPr lang="en-US" sz="1100"/>
          </a:p>
        </p:txBody>
      </p:sp>
      <p:sp>
        <p:nvSpPr>
          <p:cNvPr id="1048645" name="AutoShape 9"/>
          <p:cNvSpPr/>
          <p:nvPr/>
        </p:nvSpPr>
        <p:spPr>
          <a:xfrm>
            <a:off x="1016000" y="4546600"/>
            <a:ext cx="927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zh-CN" altLang="en-US" sz="1900" b="1">
                <a:solidFill>
                  <a:srgbClr val="F2EDE3"/>
                </a:solidFill>
                <a:latin typeface="Noto Sans SC"/>
                <a:ea typeface="Noto Sans SC"/>
                <a:cs typeface="Noto Sans SC"/>
                <a:sym typeface="Noto Sans SC"/>
              </a:rPr>
              <a:t>痛</a:t>
            </a:r>
            <a:r>
              <a:rPr lang="zh-CN" altLang="en-US" sz="1900" b="1" i="0" u="none" strike="noStrike">
                <a:solidFill>
                  <a:srgbClr val="F2EDE3"/>
                </a:solidFill>
                <a:latin typeface="Noto Sans SC"/>
                <a:ea typeface="Noto Sans SC"/>
                <a:cs typeface="Noto Sans SC"/>
                <a:sym typeface="Noto Sans SC"/>
              </a:rPr>
              <a:t>点</a:t>
            </a:r>
            <a:r>
              <a:rPr lang="en-US" sz="1900" b="1" i="0" u="none" strike="noStrike">
                <a:solidFill>
                  <a:srgbClr val="F2EDE3"/>
                </a:solidFill>
                <a:latin typeface="Noto Sans SC"/>
                <a:ea typeface="Noto Sans SC"/>
                <a:cs typeface="Noto Sans SC"/>
                <a:sym typeface="Noto Sans SC"/>
              </a:rPr>
              <a:t>三 · </a:t>
            </a:r>
            <a:r>
              <a:rPr lang="en-US" sz="1900" b="1">
                <a:solidFill>
                  <a:srgbClr val="F2EDE3"/>
                </a:solidFill>
                <a:latin typeface="Noto Sans SC" charset="0"/>
                <a:ea typeface="Noto Sans SC" charset="0"/>
                <a:cs typeface="Noto Sans SC" charset="0"/>
                <a:sym typeface="Noto Sans SC"/>
              </a:rPr>
              <a:t>快速事件下</a:t>
            </a:r>
            <a:r>
              <a:rPr lang="zh-CN" altLang="en-US" sz="1900" b="1">
                <a:solidFill>
                  <a:srgbClr val="F2EDE3"/>
                </a:solidFill>
                <a:latin typeface="Noto Sans SC" charset="0"/>
                <a:ea typeface="Noto Sans SC" charset="0"/>
                <a:cs typeface="Noto Sans SC" charset="0"/>
                <a:sym typeface="Noto Sans SC"/>
              </a:rPr>
              <a:t>人类解说容易信息过载</a:t>
            </a:r>
            <a:endParaRPr lang="zh-CN" altLang="en-US" sz="1900" b="1">
              <a:solidFill>
                <a:srgbClr val="F2EDE3"/>
              </a:solidFill>
              <a:latin typeface="Noto Sans SC" charset="0"/>
              <a:ea typeface="Noto Sans SC" charset="0"/>
              <a:cs typeface="Noto Sans SC" charset="0"/>
              <a:sym typeface="Noto Sans SC"/>
            </a:endParaRPr>
          </a:p>
        </p:txBody>
      </p:sp>
      <p:sp>
        <p:nvSpPr>
          <p:cNvPr id="1048646" name="AutoShape 10"/>
          <p:cNvSpPr/>
          <p:nvPr/>
        </p:nvSpPr>
        <p:spPr>
          <a:xfrm>
            <a:off x="1016000" y="4978400"/>
            <a:ext cx="927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zh-CN" sz="1500">
                <a:solidFill>
                  <a:srgbClr val="A0A8B6"/>
                </a:solidFill>
                <a:latin typeface="Noto Sans SC" charset="0"/>
                <a:ea typeface="Noto Sans SC" charset="0"/>
                <a:cs typeface="Noto Sans SC" charset="0"/>
              </a:rPr>
              <a:t>在MOBA或FPS类电竞比赛中，团战往往在3-5秒内爆发。人类解说在这几秒内需要同时处理：技能释放顺序、装备主动效果、经济差变化、选手站位。电竞解说</a:t>
            </a:r>
            <a:r>
              <a:rPr lang="zh-CN" altLang="en-US" sz="1500">
                <a:solidFill>
                  <a:srgbClr val="A0A8B6"/>
                </a:solidFill>
                <a:latin typeface="Noto Sans SC" charset="0"/>
                <a:ea typeface="Noto Sans SC" charset="0"/>
                <a:cs typeface="Noto Sans SC" charset="0"/>
              </a:rPr>
              <a:t>易</a:t>
            </a:r>
            <a:r>
              <a:rPr lang="zh-CN" sz="1500">
                <a:solidFill>
                  <a:srgbClr val="A0A8B6"/>
                </a:solidFill>
                <a:latin typeface="Noto Sans SC" charset="0"/>
                <a:ea typeface="Noto Sans SC" charset="0"/>
                <a:cs typeface="Noto Sans SC" charset="0"/>
              </a:rPr>
              <a:t>口误或漏掉关键</a:t>
            </a:r>
            <a:r>
              <a:rPr lang="zh-CN" altLang="en-US" sz="1500">
                <a:solidFill>
                  <a:srgbClr val="A0A8B6"/>
                </a:solidFill>
                <a:latin typeface="Noto Sans SC" charset="0"/>
                <a:ea typeface="Noto Sans SC" charset="0"/>
                <a:cs typeface="Noto Sans SC" charset="0"/>
              </a:rPr>
              <a:t>操作</a:t>
            </a:r>
            <a:r>
              <a:rPr lang="zh-CN" sz="1500">
                <a:solidFill>
                  <a:srgbClr val="A0A8B6"/>
                </a:solidFill>
                <a:latin typeface="Noto Sans SC" charset="0"/>
                <a:ea typeface="Noto Sans SC" charset="0"/>
                <a:cs typeface="Noto Sans SC" charset="0"/>
              </a:rPr>
              <a:t>。</a:t>
            </a:r>
            <a:endParaRPr lang="zh-CN" sz="1500">
              <a:solidFill>
                <a:srgbClr val="A0A8B6"/>
              </a:solidFill>
              <a:latin typeface="Noto Sans SC" charset="0"/>
              <a:ea typeface="Noto Sans SC" charset="0"/>
              <a:cs typeface="Noto Sans SC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C">
            <a:alpha val="100000"/>
          </a:srgbClr>
        </a:solidFill>
        <a:effectLst/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AutoShape 2"/>
          <p:cNvSpPr/>
          <p:nvPr/>
        </p:nvSpPr>
        <p:spPr>
          <a:xfrm>
            <a:off x="1016000" y="6096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0A44A"/>
                </a:solidFill>
                <a:latin typeface="Noto Sans SC"/>
                <a:ea typeface="Noto Sans SC"/>
                <a:cs typeface="Noto Sans SC"/>
                <a:sym typeface="Noto Sans SC"/>
              </a:rPr>
              <a:t>02 · 四维调研 · 技术趋势</a:t>
            </a:r>
            <a:endParaRPr lang="en-US" sz="1100"/>
          </a:p>
        </p:txBody>
      </p:sp>
      <p:sp>
        <p:nvSpPr>
          <p:cNvPr id="1048656" name="AutoShape 3"/>
          <p:cNvSpPr/>
          <p:nvPr/>
        </p:nvSpPr>
        <p:spPr>
          <a:xfrm>
            <a:off x="1016000" y="1041400"/>
            <a:ext cx="10414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3000" b="1" i="0" u="none" strike="noStrike">
                <a:solidFill>
                  <a:srgbClr val="F2EDE3"/>
                </a:solidFill>
                <a:latin typeface="Noto Serif SC"/>
                <a:ea typeface="Noto Serif SC"/>
                <a:cs typeface="Noto Serif SC"/>
                <a:sym typeface="Noto Serif SC"/>
              </a:rPr>
              <a:t>"多模态大模型 + RAG知识约束"已成学界业界共识</a:t>
            </a:r>
            <a:endParaRPr lang="en-US" sz="1100"/>
          </a:p>
        </p:txBody>
      </p:sp>
      <p:cxnSp>
        <p:nvCxnSpPr>
          <p:cNvPr id="3145737" name="Connector 4"/>
          <p:cNvCxnSpPr/>
          <p:nvPr/>
        </p:nvCxnSpPr>
        <p:spPr>
          <a:xfrm rot="-57290">
            <a:off x="1016053" y="18478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E0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pSp>
        <p:nvGrpSpPr>
          <p:cNvPr id="1" name="组合 0"/>
          <p:cNvGrpSpPr/>
          <p:nvPr userDrawn="1"/>
        </p:nvGrpSpPr>
        <p:grpSpPr>
          <a:xfrm>
            <a:off x="1016000" y="2362200"/>
            <a:ext cx="2970791" cy="2354524"/>
            <a:chOff x="1600" y="3720"/>
            <a:chExt cx="7600" cy="1840"/>
          </a:xfrm>
        </p:grpSpPr>
        <p:sp>
          <p:nvSpPr>
            <p:cNvPr id="1048657" name="AutoShape 5"/>
            <p:cNvSpPr/>
            <p:nvPr/>
          </p:nvSpPr>
          <p:spPr>
            <a:xfrm>
              <a:off x="1600" y="3720"/>
              <a:ext cx="760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p>
              <a:pPr marL="0" indent="0" algn="l">
                <a:lnSpc>
                  <a:spcPct val="125000"/>
                </a:lnSpc>
              </a:pPr>
              <a:r>
                <a:rPr lang="zh-CN" altLang="en-US" sz="1700" b="1" i="0" u="none" strike="noStrike">
                  <a:solidFill>
                    <a:srgbClr val="E0A44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多模态大模型从“直接生成”转向“证据链推理”</a:t>
              </a:r>
              <a:endParaRPr lang="zh-CN" altLang="en-US" sz="1700" b="1" i="0" u="none" strike="noStrike">
                <a:solidFill>
                  <a:srgbClr val="E0A44A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048658" name="AutoShape 6"/>
            <p:cNvSpPr/>
            <p:nvPr/>
          </p:nvSpPr>
          <p:spPr>
            <a:xfrm>
              <a:off x="1600" y="4360"/>
              <a:ext cx="76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p>
              <a:pPr marL="0" indent="0" algn="l">
                <a:lnSpc>
                  <a:spcPct val="125000"/>
                </a:lnSpc>
              </a:pPr>
              <a:r>
                <a:rPr lang="zh-CN" altLang="en-US" sz="1400" b="0" i="0" u="none" strike="noStrike">
                  <a:solidFill>
                    <a:srgbClr val="B4BAC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视频理解不再让模型“看图说话”，而是像人一样“回看视频、验证推理”，每一步思维链与画面证据绑定，确保</a:t>
              </a:r>
              <a:r>
                <a:rPr lang="en-US" altLang="zh-CN" sz="1400" b="0" i="0" u="none" strike="noStrike">
                  <a:solidFill>
                    <a:srgbClr val="B4BAC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AI</a:t>
              </a:r>
              <a:r>
                <a:rPr lang="zh-CN" altLang="en-US" sz="1400" b="0" i="0" u="none" strike="noStrike">
                  <a:solidFill>
                    <a:srgbClr val="B4BAC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解说的每句话都能追溯到具体游戏事件，从源头抑制幻觉。</a:t>
              </a:r>
              <a:endParaRPr lang="zh-CN" altLang="en-US" sz="1400" b="0" i="0" u="none" strike="noStrike">
                <a:solidFill>
                  <a:srgbClr val="B4BAC6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</p:grpSp>
      <p:grpSp>
        <p:nvGrpSpPr>
          <p:cNvPr id="3" name="组合 2"/>
          <p:cNvGrpSpPr/>
          <p:nvPr userDrawn="1"/>
        </p:nvGrpSpPr>
        <p:grpSpPr>
          <a:xfrm>
            <a:off x="4238142" y="2362219"/>
            <a:ext cx="2970728" cy="2485000"/>
            <a:chOff x="9800" y="3720"/>
            <a:chExt cx="7600" cy="1840"/>
          </a:xfrm>
        </p:grpSpPr>
        <p:sp>
          <p:nvSpPr>
            <p:cNvPr id="1048659" name="AutoShape 7"/>
            <p:cNvSpPr/>
            <p:nvPr/>
          </p:nvSpPr>
          <p:spPr>
            <a:xfrm>
              <a:off x="9800" y="3720"/>
              <a:ext cx="760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p>
              <a:pPr marL="0" indent="0" algn="l">
                <a:lnSpc>
                  <a:spcPct val="125000"/>
                </a:lnSpc>
              </a:pPr>
              <a:r>
                <a:rPr lang="en-US" altLang="zh-CN" sz="1700" b="1" i="0" u="none" strike="noStrike">
                  <a:solidFill>
                    <a:srgbClr val="E0A44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RAG</a:t>
              </a:r>
              <a:r>
                <a:rPr lang="zh-CN" altLang="en-US" sz="1700" b="1" i="0" u="none" strike="noStrike">
                  <a:solidFill>
                    <a:srgbClr val="E0A44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成为垂直领域解说生成的标准范式</a:t>
              </a:r>
              <a:endParaRPr lang="en-US" sz="1700" b="1" i="0" u="none" strike="noStrike">
                <a:solidFill>
                  <a:srgbClr val="E0A44A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048660" name="AutoShape 8"/>
            <p:cNvSpPr/>
            <p:nvPr/>
          </p:nvSpPr>
          <p:spPr>
            <a:xfrm>
              <a:off x="9800" y="4360"/>
              <a:ext cx="76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p>
              <a:pPr marL="0" indent="0" algn="l">
                <a:lnSpc>
                  <a:spcPct val="125000"/>
                </a:lnSpc>
              </a:pPr>
              <a:r>
                <a:rPr lang="zh-CN" altLang="en-US" sz="1400" b="0" i="0" u="none" strike="noStrike">
                  <a:solidFill>
                    <a:srgbClr val="B4BAC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检索增强生成从通用问答辅助演变为“垂直领域生成的核心架构”，在体育解说方向已有系统验证 </a:t>
              </a:r>
              <a:r>
                <a:rPr lang="en-US" altLang="zh-CN" sz="1400" b="0" i="0" u="none" strike="noStrike">
                  <a:solidFill>
                    <a:srgbClr val="B4BAC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(</a:t>
              </a:r>
              <a:r>
                <a:rPr lang="zh-CN" altLang="en-US" sz="1400" b="0" i="0" u="none" strike="noStrike">
                  <a:solidFill>
                    <a:srgbClr val="B4BAC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如</a:t>
              </a:r>
              <a:r>
                <a:rPr lang="en-US" altLang="zh-CN" sz="1400" b="0" i="0" u="none" strike="noStrike">
                  <a:solidFill>
                    <a:srgbClr val="B4BAC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SoccerComment</a:t>
              </a:r>
              <a:r>
                <a:rPr lang="zh-CN" altLang="en-US" sz="1400" b="0" i="0" u="none" strike="noStrike">
                  <a:solidFill>
                    <a:srgbClr val="B4BAC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-</a:t>
              </a:r>
              <a:r>
                <a:rPr lang="en-US" altLang="zh-CN" sz="1400" b="0" i="0" u="none" strike="noStrike">
                  <a:solidFill>
                    <a:srgbClr val="B4BAC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WACV 2025)</a:t>
              </a:r>
              <a:r>
                <a:rPr lang="zh-CN" altLang="en-US" sz="1400" b="0" i="0" u="none" strike="noStrike">
                  <a:solidFill>
                    <a:srgbClr val="B4BAC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。分层电竞知识库沿此路线，针对电竞特有的战术深度与术语壁垒做垂直深化</a:t>
              </a:r>
              <a:endParaRPr lang="zh-CN" altLang="en-US" sz="1400" b="0" i="0" u="none" strike="noStrike">
                <a:solidFill>
                  <a:srgbClr val="B4BAC6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</p:grpSp>
      <p:grpSp>
        <p:nvGrpSpPr>
          <p:cNvPr id="2" name="组合 1"/>
          <p:cNvGrpSpPr/>
          <p:nvPr userDrawn="1"/>
        </p:nvGrpSpPr>
        <p:grpSpPr>
          <a:xfrm>
            <a:off x="7460186" y="2362219"/>
            <a:ext cx="2970783" cy="1862607"/>
            <a:chOff x="1600" y="6120"/>
            <a:chExt cx="7600" cy="1840"/>
          </a:xfrm>
        </p:grpSpPr>
        <p:sp>
          <p:nvSpPr>
            <p:cNvPr id="1048661" name="AutoShape 9"/>
            <p:cNvSpPr/>
            <p:nvPr/>
          </p:nvSpPr>
          <p:spPr>
            <a:xfrm>
              <a:off x="1600" y="6120"/>
              <a:ext cx="760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p>
              <a:pPr marL="0" indent="0" algn="l">
                <a:lnSpc>
                  <a:spcPct val="125000"/>
                </a:lnSpc>
              </a:pPr>
              <a:r>
                <a:rPr lang="zh-CN" altLang="en-US" sz="1700" b="1" i="0" u="none" strike="noStrike">
                  <a:solidFill>
                    <a:srgbClr val="E0A44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多模态模型轻量化与边缘部署走向成熟</a:t>
              </a:r>
              <a:endParaRPr lang="zh-CN" altLang="en-US" sz="1700" b="1" i="0" u="none" strike="noStrike">
                <a:solidFill>
                  <a:srgbClr val="E0A44A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048662" name="AutoShape 10"/>
            <p:cNvSpPr/>
            <p:nvPr/>
          </p:nvSpPr>
          <p:spPr>
            <a:xfrm>
              <a:off x="1600" y="6760"/>
              <a:ext cx="76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p>
              <a:pPr marL="0" indent="0" algn="l">
                <a:lnSpc>
                  <a:spcPct val="125000"/>
                </a:lnSpc>
              </a:pPr>
              <a:r>
                <a:rPr lang="zh-CN" altLang="en-US" sz="1400" b="0" i="0" u="none" strike="noStrike">
                  <a:solidFill>
                    <a:srgbClr val="B4BAC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采用轻量</a:t>
              </a:r>
              <a:r>
                <a:rPr lang="en-US" altLang="zh-CN" sz="1400" b="0" i="0" u="none" strike="noStrike">
                  <a:solidFill>
                    <a:srgbClr val="B4BAC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VL</a:t>
              </a:r>
              <a:r>
                <a:rPr lang="zh-CN" altLang="en-US" sz="1400" b="0" i="0" u="none" strike="noStrike">
                  <a:solidFill>
                    <a:srgbClr val="B4BAC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模型+本地向量库，整套系统可部署于普通笔记本，满足高校赛、城市赛等低成本场景。</a:t>
              </a:r>
              <a:endParaRPr lang="en-US" sz="1100"/>
            </a:p>
          </p:txBody>
        </p:sp>
      </p:grpSp>
      <p:cxnSp>
        <p:nvCxnSpPr>
          <p:cNvPr id="3145738" name="Connector 13"/>
          <p:cNvCxnSpPr/>
          <p:nvPr/>
        </p:nvCxnSpPr>
        <p:spPr>
          <a:xfrm rot="-4297">
            <a:off x="1016004" y="5429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C">
            <a:alpha val="100000"/>
          </a:srgbClr>
        </a:solidFill>
        <a:effectLst/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AutoShape 2"/>
          <p:cNvSpPr/>
          <p:nvPr/>
        </p:nvSpPr>
        <p:spPr>
          <a:xfrm>
            <a:off x="1016000" y="6096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0A44A"/>
                </a:solidFill>
                <a:latin typeface="Noto Sans SC"/>
                <a:ea typeface="Noto Sans SC"/>
                <a:cs typeface="Noto Sans SC"/>
                <a:sym typeface="Noto Sans SC"/>
              </a:rPr>
              <a:t>03 · 方案逻辑与可行性</a:t>
            </a:r>
            <a:endParaRPr lang="en-US" sz="1100"/>
          </a:p>
        </p:txBody>
      </p:sp>
      <p:sp>
        <p:nvSpPr>
          <p:cNvPr id="1048673" name="AutoShape 3"/>
          <p:cNvSpPr/>
          <p:nvPr/>
        </p:nvSpPr>
        <p:spPr>
          <a:xfrm>
            <a:off x="1016000" y="1041400"/>
            <a:ext cx="10414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3000" b="1" i="0" u="none" strike="noStrike">
                <a:solidFill>
                  <a:srgbClr val="F2EDE3"/>
                </a:solidFill>
                <a:latin typeface="Noto Serif SC"/>
                <a:ea typeface="Noto Serif SC"/>
                <a:cs typeface="Noto Serif SC"/>
                <a:sym typeface="Noto Serif SC"/>
              </a:rPr>
              <a:t>视觉感知 → 知识约束 → 多风格生成</a:t>
            </a:r>
            <a:endParaRPr lang="en-US" sz="1100"/>
          </a:p>
        </p:txBody>
      </p:sp>
      <p:cxnSp>
        <p:nvCxnSpPr>
          <p:cNvPr id="3145739" name="Connector 4"/>
          <p:cNvCxnSpPr/>
          <p:nvPr/>
        </p:nvCxnSpPr>
        <p:spPr>
          <a:xfrm rot="-57290">
            <a:off x="1016053" y="18478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E0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48674" name="AutoShape 5"/>
          <p:cNvSpPr/>
          <p:nvPr/>
        </p:nvSpPr>
        <p:spPr>
          <a:xfrm>
            <a:off x="698500" y="2667000"/>
            <a:ext cx="1905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E0A44A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675" name="AutoShape 6"/>
          <p:cNvSpPr/>
          <p:nvPr/>
        </p:nvSpPr>
        <p:spPr>
          <a:xfrm>
            <a:off x="825500" y="2946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marL="0" indent="0" algn="ctr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F2EDE3"/>
                </a:solidFill>
                <a:latin typeface="Noto Sans SC"/>
                <a:ea typeface="Noto Sans SC"/>
                <a:cs typeface="Noto Sans SC"/>
                <a:sym typeface="Noto Sans SC"/>
              </a:rPr>
              <a:t>赛事输入</a:t>
            </a:r>
            <a:endParaRPr lang="en-US" sz="1100"/>
          </a:p>
        </p:txBody>
      </p:sp>
      <p:sp>
        <p:nvSpPr>
          <p:cNvPr id="1048676" name="AutoShape 7"/>
          <p:cNvSpPr/>
          <p:nvPr/>
        </p:nvSpPr>
        <p:spPr>
          <a:xfrm>
            <a:off x="825500" y="33782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A0A8B6"/>
                </a:solidFill>
                <a:latin typeface="Noto Sans SC"/>
                <a:ea typeface="Noto Sans SC"/>
                <a:cs typeface="Noto Sans SC"/>
                <a:sym typeface="Noto Sans SC"/>
              </a:rPr>
              <a:t>比赛视频 / 对局事件</a:t>
            </a:r>
            <a:endParaRPr lang="en-US" sz="1100"/>
          </a:p>
        </p:txBody>
      </p:sp>
      <p:sp>
        <p:nvSpPr>
          <p:cNvPr id="1048677" name="AutoShape 8"/>
          <p:cNvSpPr/>
          <p:nvPr/>
        </p:nvSpPr>
        <p:spPr>
          <a:xfrm>
            <a:off x="2857500" y="2667000"/>
            <a:ext cx="1905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E0A44A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678" name="AutoShape 9"/>
          <p:cNvSpPr/>
          <p:nvPr/>
        </p:nvSpPr>
        <p:spPr>
          <a:xfrm>
            <a:off x="2984500" y="2946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marL="0" indent="0" algn="ctr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F2EDE3"/>
                </a:solidFill>
                <a:latin typeface="Noto Sans SC"/>
                <a:ea typeface="Noto Sans SC"/>
                <a:cs typeface="Noto Sans SC"/>
                <a:sym typeface="Noto Sans SC"/>
              </a:rPr>
              <a:t>视觉感知</a:t>
            </a:r>
            <a:endParaRPr lang="en-US" sz="1100"/>
          </a:p>
        </p:txBody>
      </p:sp>
      <p:sp>
        <p:nvSpPr>
          <p:cNvPr id="1048679" name="AutoShape 10"/>
          <p:cNvSpPr/>
          <p:nvPr/>
        </p:nvSpPr>
        <p:spPr>
          <a:xfrm>
            <a:off x="2984500" y="33782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08000"/>
              </a:lnSpc>
            </a:pPr>
            <a:r>
              <a:rPr lang="en-US" altLang="zh-CN" sz="1200" b="0" i="0" u="none" strike="noStrike">
                <a:solidFill>
                  <a:srgbClr val="A0A8B6"/>
                </a:solidFill>
                <a:latin typeface="Noto Sans SC"/>
                <a:ea typeface="Noto Sans SC"/>
                <a:cs typeface="Noto Sans SC"/>
                <a:sym typeface="Noto Sans SC"/>
              </a:rPr>
              <a:t>GLM-4.6V-Flash</a:t>
            </a:r>
            <a:r>
              <a:rPr lang="en-US" sz="1200" b="0" i="0" u="none" strike="noStrike">
                <a:solidFill>
                  <a:srgbClr val="A0A8B6"/>
                </a:solidFill>
                <a:latin typeface="Noto Sans SC"/>
                <a:ea typeface="Noto Sans SC"/>
                <a:cs typeface="Noto Sans SC"/>
                <a:sym typeface="Noto Sans SC"/>
              </a:rPr>
              <a:t>识别 · 事件结构化</a:t>
            </a:r>
            <a:endParaRPr lang="en-US" sz="1100"/>
          </a:p>
        </p:txBody>
      </p:sp>
      <p:sp>
        <p:nvSpPr>
          <p:cNvPr id="1048680" name="AutoShape 11"/>
          <p:cNvSpPr/>
          <p:nvPr/>
        </p:nvSpPr>
        <p:spPr>
          <a:xfrm>
            <a:off x="5016500" y="2667000"/>
            <a:ext cx="1905000" cy="1397000"/>
          </a:xfrm>
          <a:prstGeom prst="roundRect">
            <a:avLst>
              <a:gd name="adj" fmla="val 9090"/>
            </a:avLst>
          </a:prstGeom>
          <a:solidFill>
            <a:srgbClr val="E0A44A">
              <a:alpha val="14000"/>
            </a:srgbClr>
          </a:solidFill>
          <a:ln w="12700" cap="flat" cmpd="sng">
            <a:solidFill>
              <a:srgbClr val="E0A44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681" name="AutoShape 12"/>
          <p:cNvSpPr/>
          <p:nvPr/>
        </p:nvSpPr>
        <p:spPr>
          <a:xfrm>
            <a:off x="5143500" y="2946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marL="0" indent="0" algn="ctr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E0A44A"/>
                </a:solidFill>
                <a:latin typeface="Noto Sans SC"/>
                <a:ea typeface="Noto Sans SC"/>
                <a:cs typeface="Noto Sans SC"/>
                <a:sym typeface="Noto Sans SC"/>
              </a:rPr>
              <a:t>向量知识库</a:t>
            </a:r>
            <a:endParaRPr lang="en-US" sz="1100"/>
          </a:p>
        </p:txBody>
      </p:sp>
      <p:sp>
        <p:nvSpPr>
          <p:cNvPr id="1048682" name="AutoShape 13"/>
          <p:cNvSpPr/>
          <p:nvPr/>
        </p:nvSpPr>
        <p:spPr>
          <a:xfrm>
            <a:off x="5143500" y="33782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8CDD7"/>
                </a:solidFill>
                <a:latin typeface="Noto Sans SC"/>
                <a:ea typeface="Noto Sans SC"/>
                <a:cs typeface="Noto Sans SC"/>
                <a:sym typeface="Noto Sans SC"/>
              </a:rPr>
              <a:t>检索选手·英雄·名场面</a:t>
            </a:r>
            <a:endParaRPr lang="en-US" sz="1100"/>
          </a:p>
        </p:txBody>
      </p:sp>
      <p:sp>
        <p:nvSpPr>
          <p:cNvPr id="1048683" name="AutoShape 14"/>
          <p:cNvSpPr/>
          <p:nvPr/>
        </p:nvSpPr>
        <p:spPr>
          <a:xfrm>
            <a:off x="7175500" y="2667000"/>
            <a:ext cx="1905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E0A44A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684" name="AutoShape 15"/>
          <p:cNvSpPr/>
          <p:nvPr/>
        </p:nvSpPr>
        <p:spPr>
          <a:xfrm>
            <a:off x="7302500" y="2946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marL="0" indent="0" algn="ctr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F2EDE3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多模态大模型</a:t>
            </a:r>
            <a:endParaRPr lang="en-US" sz="1100"/>
          </a:p>
        </p:txBody>
      </p:sp>
      <p:sp>
        <p:nvSpPr>
          <p:cNvPr id="1048685" name="AutoShape 16"/>
          <p:cNvSpPr/>
          <p:nvPr/>
        </p:nvSpPr>
        <p:spPr>
          <a:xfrm>
            <a:off x="7302500" y="33782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A0A8B6"/>
                </a:solidFill>
                <a:latin typeface="Noto Sans SC"/>
                <a:ea typeface="Noto Sans SC"/>
                <a:cs typeface="Noto Sans SC"/>
                <a:sym typeface="Noto Sans SC"/>
              </a:rPr>
              <a:t>知识约束生成文案</a:t>
            </a:r>
            <a:endParaRPr lang="en-US" sz="1100"/>
          </a:p>
        </p:txBody>
      </p:sp>
      <p:sp>
        <p:nvSpPr>
          <p:cNvPr id="1048686" name="AutoShape 17"/>
          <p:cNvSpPr/>
          <p:nvPr/>
        </p:nvSpPr>
        <p:spPr>
          <a:xfrm>
            <a:off x="9334500" y="2667000"/>
            <a:ext cx="1905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E0A44A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687" name="AutoShape 18"/>
          <p:cNvSpPr/>
          <p:nvPr/>
        </p:nvSpPr>
        <p:spPr>
          <a:xfrm>
            <a:off x="9461500" y="2946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marL="0" indent="0" algn="ctr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F2EDE3"/>
                </a:solidFill>
                <a:latin typeface="Noto Sans SC"/>
                <a:ea typeface="Noto Sans SC"/>
                <a:cs typeface="Noto Sans SC"/>
                <a:sym typeface="Noto Sans SC"/>
              </a:rPr>
              <a:t>解说文案</a:t>
            </a:r>
            <a:endParaRPr lang="en-US" sz="1100"/>
          </a:p>
        </p:txBody>
      </p:sp>
      <p:sp>
        <p:nvSpPr>
          <p:cNvPr id="1048688" name="AutoShape 19"/>
          <p:cNvSpPr/>
          <p:nvPr/>
        </p:nvSpPr>
        <p:spPr>
          <a:xfrm>
            <a:off x="9461500" y="33782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A0A8B6"/>
                </a:solidFill>
                <a:latin typeface="Noto Sans SC"/>
                <a:ea typeface="Noto Sans SC"/>
                <a:cs typeface="Noto Sans SC"/>
                <a:sym typeface="Noto Sans SC"/>
              </a:rPr>
              <a:t>一键多风格输出</a:t>
            </a:r>
            <a:endParaRPr lang="en-US" sz="1100"/>
          </a:p>
        </p:txBody>
      </p:sp>
      <p:cxnSp>
        <p:nvCxnSpPr>
          <p:cNvPr id="3145740" name="Connector 20"/>
          <p:cNvCxnSpPr/>
          <p:nvPr/>
        </p:nvCxnSpPr>
        <p:spPr>
          <a:xfrm rot="-190789">
            <a:off x="2603676" y="3359150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0A44A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3145741" name="Connector 21"/>
          <p:cNvCxnSpPr/>
          <p:nvPr/>
        </p:nvCxnSpPr>
        <p:spPr>
          <a:xfrm rot="-190789">
            <a:off x="4762676" y="3359150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0A44A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3145742" name="Connector 22"/>
          <p:cNvCxnSpPr/>
          <p:nvPr/>
        </p:nvCxnSpPr>
        <p:spPr>
          <a:xfrm rot="-190789">
            <a:off x="6921676" y="3359150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0A44A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3145743" name="Connector 23"/>
          <p:cNvCxnSpPr/>
          <p:nvPr/>
        </p:nvCxnSpPr>
        <p:spPr>
          <a:xfrm rot="-190789">
            <a:off x="9080676" y="3359150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0A44A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048693" name="AutoShape 28"/>
          <p:cNvSpPr/>
          <p:nvPr/>
        </p:nvSpPr>
        <p:spPr>
          <a:xfrm>
            <a:off x="1016056" y="4965607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B4BAC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核心链路：比赛事件经视觉模块结构化，向量知识库检索相关事实片段，作为"约束"喂给大模型——模型只负责润色语气，不负责编造事实。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C">
            <a:alpha val="100000"/>
          </a:srgbClr>
        </a:solidFill>
        <a:effectLst/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AutoShape 2"/>
          <p:cNvSpPr/>
          <p:nvPr/>
        </p:nvSpPr>
        <p:spPr>
          <a:xfrm>
            <a:off x="1016000" y="6096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0A44A"/>
                </a:solidFill>
                <a:latin typeface="Noto Sans SC"/>
                <a:ea typeface="Noto Sans SC"/>
                <a:cs typeface="Noto Sans SC"/>
                <a:sym typeface="Noto Sans SC"/>
              </a:rPr>
              <a:t>03 · 方案逻辑与可行性 · 核心创新</a:t>
            </a:r>
            <a:endParaRPr lang="en-US" sz="1100"/>
          </a:p>
        </p:txBody>
      </p:sp>
      <p:sp>
        <p:nvSpPr>
          <p:cNvPr id="1048701" name="AutoShape 3"/>
          <p:cNvSpPr/>
          <p:nvPr/>
        </p:nvSpPr>
        <p:spPr>
          <a:xfrm>
            <a:off x="1016000" y="1041400"/>
            <a:ext cx="10414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2900" b="1" i="0" u="none" strike="noStrike">
                <a:solidFill>
                  <a:srgbClr val="F2EDE3"/>
                </a:solidFill>
                <a:latin typeface="Noto Serif SC"/>
                <a:ea typeface="Noto Serif SC"/>
                <a:cs typeface="Noto Serif SC"/>
                <a:sym typeface="Noto Serif SC"/>
              </a:rPr>
              <a:t>不做"通用聊天机器人"，用知识库把事实关进笼子</a:t>
            </a:r>
            <a:endParaRPr lang="en-US" sz="1100"/>
          </a:p>
        </p:txBody>
      </p:sp>
      <p:cxnSp>
        <p:nvCxnSpPr>
          <p:cNvPr id="3145744" name="Connector 4"/>
          <p:cNvCxnSpPr/>
          <p:nvPr/>
        </p:nvCxnSpPr>
        <p:spPr>
          <a:xfrm rot="-57290">
            <a:off x="1016053" y="18478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E0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48702" name="AutoShape 5"/>
          <p:cNvSpPr/>
          <p:nvPr/>
        </p:nvSpPr>
        <p:spPr>
          <a:xfrm>
            <a:off x="1016000" y="23114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E0A44A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1048703" name="AutoShape 6"/>
          <p:cNvSpPr/>
          <p:nvPr/>
        </p:nvSpPr>
        <p:spPr>
          <a:xfrm>
            <a:off x="1905000" y="2286000"/>
            <a:ext cx="927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900" b="1" i="0" u="none" strike="noStrike">
                <a:solidFill>
                  <a:srgbClr val="F2EDE3"/>
                </a:solidFill>
                <a:latin typeface="Noto Sans SC"/>
                <a:ea typeface="Noto Sans SC"/>
                <a:cs typeface="Noto Sans SC"/>
                <a:sym typeface="Noto Sans SC"/>
              </a:rPr>
              <a:t>赛事专属垂直知识库</a:t>
            </a:r>
            <a:endParaRPr lang="en-US" sz="1100"/>
          </a:p>
        </p:txBody>
      </p:sp>
      <p:sp>
        <p:nvSpPr>
          <p:cNvPr id="1048704" name="AutoShape 7"/>
          <p:cNvSpPr/>
          <p:nvPr/>
        </p:nvSpPr>
        <p:spPr>
          <a:xfrm>
            <a:off x="1905000" y="2717800"/>
            <a:ext cx="9271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A0A8B6"/>
                </a:solidFill>
                <a:latin typeface="Noto Sans SC"/>
                <a:ea typeface="Noto Sans SC"/>
                <a:cs typeface="Noto Sans SC"/>
                <a:sym typeface="Noto Sans SC"/>
              </a:rPr>
              <a:t>用Chroma轻量向量库存选手档案、英雄战术、经典名场面与真实解说话术，知识来源可追溯、可更新。</a:t>
            </a:r>
            <a:endParaRPr lang="en-US" sz="1100"/>
          </a:p>
        </p:txBody>
      </p:sp>
      <p:sp>
        <p:nvSpPr>
          <p:cNvPr id="1048705" name="AutoShape 8"/>
          <p:cNvSpPr/>
          <p:nvPr/>
        </p:nvSpPr>
        <p:spPr>
          <a:xfrm>
            <a:off x="1016000" y="36068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E0A44A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48706" name="AutoShape 9"/>
          <p:cNvSpPr/>
          <p:nvPr/>
        </p:nvSpPr>
        <p:spPr>
          <a:xfrm>
            <a:off x="1905000" y="3581400"/>
            <a:ext cx="927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900" b="1" i="0" u="none" strike="noStrike">
                <a:solidFill>
                  <a:srgbClr val="F2EDE3"/>
                </a:solidFill>
                <a:latin typeface="Noto Sans SC"/>
                <a:ea typeface="Noto Sans SC"/>
                <a:cs typeface="Noto Sans SC"/>
                <a:sym typeface="Noto Sans SC"/>
              </a:rPr>
              <a:t>RAG知识约束，从源头抑制幻觉</a:t>
            </a:r>
            <a:endParaRPr lang="en-US" sz="1100"/>
          </a:p>
        </p:txBody>
      </p:sp>
      <p:sp>
        <p:nvSpPr>
          <p:cNvPr id="1048707" name="AutoShape 10"/>
          <p:cNvSpPr/>
          <p:nvPr/>
        </p:nvSpPr>
        <p:spPr>
          <a:xfrm>
            <a:off x="1905000" y="4013200"/>
            <a:ext cx="9271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A0A8B6"/>
                </a:solidFill>
                <a:latin typeface="Noto Sans SC"/>
                <a:ea typeface="Noto Sans SC"/>
                <a:cs typeface="Noto Sans SC"/>
                <a:sym typeface="Noto Sans SC"/>
              </a:rPr>
              <a:t>所有事实性内容必须来自检索片段，Prompt强约束"禁止编造"，大模型只负责语气润色，不负责事实。</a:t>
            </a:r>
            <a:endParaRPr lang="en-US" sz="1100"/>
          </a:p>
        </p:txBody>
      </p:sp>
      <p:sp>
        <p:nvSpPr>
          <p:cNvPr id="1048708" name="AutoShape 11"/>
          <p:cNvSpPr/>
          <p:nvPr/>
        </p:nvSpPr>
        <p:spPr>
          <a:xfrm>
            <a:off x="1016000" y="49022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E0A44A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048709" name="AutoShape 12"/>
          <p:cNvSpPr/>
          <p:nvPr/>
        </p:nvSpPr>
        <p:spPr>
          <a:xfrm>
            <a:off x="1905000" y="4876800"/>
            <a:ext cx="927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900" b="1" i="0" u="none" strike="noStrike">
                <a:solidFill>
                  <a:srgbClr val="F2EDE3"/>
                </a:solidFill>
                <a:latin typeface="Noto Sans SC"/>
                <a:ea typeface="Noto Sans SC"/>
                <a:cs typeface="Noto Sans SC"/>
                <a:sym typeface="Noto Sans SC"/>
              </a:rPr>
              <a:t>一赛多风格，双场景落地</a:t>
            </a:r>
            <a:endParaRPr lang="en-US" sz="1100"/>
          </a:p>
        </p:txBody>
      </p:sp>
      <p:sp>
        <p:nvSpPr>
          <p:cNvPr id="1048710" name="AutoShape 13"/>
          <p:cNvSpPr/>
          <p:nvPr/>
        </p:nvSpPr>
        <p:spPr>
          <a:xfrm>
            <a:off x="1905000" y="5308600"/>
            <a:ext cx="9271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A0A8B6"/>
                </a:solidFill>
                <a:latin typeface="Noto Sans SC"/>
                <a:ea typeface="Noto Sans SC"/>
                <a:cs typeface="Noto Sans SC"/>
                <a:sym typeface="Noto Sans SC"/>
              </a:rPr>
              <a:t>同一事件一键生成正式、激情、短视频口语三种文案，分别服务线下赛事导播与自媒体内容生产。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C">
            <a:alpha val="100000"/>
          </a:srgbClr>
        </a:solidFill>
        <a:effectLst/>
      </p:bgPr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48" name="Connector 2"/>
          <p:cNvCxnSpPr/>
          <p:nvPr/>
        </p:nvCxnSpPr>
        <p:spPr>
          <a:xfrm rot="-34376">
            <a:off x="5461032" y="2533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E0A4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48747" name="AutoShape 3"/>
          <p:cNvSpPr/>
          <p:nvPr/>
        </p:nvSpPr>
        <p:spPr>
          <a:xfrm>
            <a:off x="1016000" y="28956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</a:pPr>
            <a:r>
              <a:rPr lang="en-US" sz="4400" b="1" i="0" u="none" strike="noStrike">
                <a:solidFill>
                  <a:srgbClr val="F2EDE3"/>
                </a:solidFill>
                <a:latin typeface="Noto Serif SC"/>
                <a:ea typeface="Noto Serif SC"/>
                <a:cs typeface="Noto Serif SC"/>
                <a:sym typeface="Noto Serif SC"/>
              </a:rPr>
              <a:t>让每一场热血对局，都有专业解说</a:t>
            </a:r>
            <a:endParaRPr lang="en-US" sz="1100"/>
          </a:p>
        </p:txBody>
      </p:sp>
      <p:sp>
        <p:nvSpPr>
          <p:cNvPr id="1048749" name="AutoShape 5"/>
          <p:cNvSpPr/>
          <p:nvPr/>
        </p:nvSpPr>
        <p:spPr>
          <a:xfrm>
            <a:off x="1016000" y="5334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E0A44A"/>
                </a:solidFill>
                <a:latin typeface="Noto Sans SC"/>
                <a:ea typeface="Noto Sans SC"/>
                <a:cs typeface="Noto Sans SC"/>
                <a:sym typeface="Noto Sans SC"/>
              </a:rPr>
              <a:t>谢谢聆听 · 恳请各位老师批评指正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1711</Words>
  <Application>WPS Office WWO_wpscloud_20260916174450-7bfc4fa662</Application>
  <PresentationFormat/>
  <Paragraphs>154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宋体</vt:lpstr>
      <vt:lpstr>Wingdings</vt:lpstr>
      <vt:lpstr>Arial</vt:lpstr>
      <vt:lpstr>Noto Sans SC</vt:lpstr>
      <vt:lpstr>Noto Serif SC</vt:lpstr>
      <vt:lpstr>宋体</vt:lpstr>
      <vt:lpstr>汉仪书宋二KW</vt:lpstr>
      <vt:lpstr>微软雅黑</vt:lpstr>
      <vt:lpstr>汉仪旗黑KW 55S</vt:lpstr>
      <vt:lpstr>Kingsoft Confetti</vt:lpstr>
      <vt:lpstr>Noto Sans SC</vt:lpstr>
      <vt:lpstr>quote-cjk-patch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HBN-AL80</dc:creator>
  <cp:lastModifiedBy/>
  <dcterms:created xsi:type="dcterms:W3CDTF">2026-09-19T07:52:33Z</dcterms:created>
  <dcterms:modified xsi:type="dcterms:W3CDTF">2026-09-19T07:52:33Z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{"Label":"1","ContentProducer":"001191110102MACQD9K64010000","ProduceID":"7687128745072790470","ReservedCode1":"","ContentPropagator":"","PropagateID":"","ReservedCode2":""}</vt:lpwstr>
  </property>
  <property fmtid="{D5CDD505-2E9C-101B-9397-08002B2CF9AE}" pid="3" name="ICV">
    <vt:lpwstr>00ecd3a81731441689b9ec28f05e3ed2_23</vt:lpwstr>
  </property>
  <property fmtid="{D5CDD505-2E9C-101B-9397-08002B2CF9AE}" pid="4" name="KSOProductBuildVer">
    <vt:lpwstr>2052-12.9.0.29121</vt:lpwstr>
  </property>
</Properties>
</file>